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推薦アルゴリズムの数理と実装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CareerNavigatorにおける4つのアプローチ</a:t>
            </a:r>
          </a:p>
          <a:p>
            <a:r>
              <a:t>(NMF, Graph, SEM, LiNGAM)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NMF (非負値行列因子分解)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1.1 NMF: 概要と目的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目的: 高次元の疎なユーザー・アイテム行列から、潜在的な特徴を抽出する</a:t>
            </a:r>
          </a:p>
          <a:p>
            <a:pPr>
              <a:spcAft>
                <a:spcPts val="1000"/>
              </a:spcAft>
              <a:defRPr sz="1800"/>
            </a:pPr>
            <a:r>
              <a:t>アプローチ: 行列分解 (Matrix Factorization) の一種</a:t>
            </a:r>
          </a:p>
          <a:p>
            <a:pPr>
              <a:spcAft>
                <a:spcPts val="1000"/>
              </a:spcAft>
              <a:defRPr sz="1800"/>
            </a:pPr>
            <a:r>
              <a:t>特徴: すべての要素が非負 (≧0) であるという制約</a:t>
            </a:r>
          </a:p>
          <a:p>
            <a:pPr>
              <a:spcAft>
                <a:spcPts val="1000"/>
              </a:spcAft>
              <a:defRPr sz="1800"/>
            </a:pPr>
            <a:r>
              <a:t>解釈性: 「部分」の加算として全体を表現するため、PCA等と比較して解釈が容易</a:t>
            </a:r>
          </a:p>
          <a:p>
            <a:pPr>
              <a:spcAft>
                <a:spcPts val="1000"/>
              </a:spcAft>
              <a:defRPr sz="1800"/>
            </a:pPr>
            <a:r>
              <a:t>応用: 協調フィルタリング、トピックモデル、画像の特徴抽出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1.2 NMF: 問題定式化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入力: 非負行列 V (m × n)</a:t>
            </a:r>
          </a:p>
          <a:p>
            <a:pPr lvl="1">
              <a:spcAft>
                <a:spcPts val="1000"/>
              </a:spcAft>
              <a:defRPr sz="1800"/>
            </a:pPr>
            <a:r>
              <a:t>- m: ユーザー数 (メンバー)</a:t>
            </a:r>
          </a:p>
          <a:p>
            <a:pPr lvl="1">
              <a:spcAft>
                <a:spcPts val="1000"/>
              </a:spcAft>
              <a:defRPr sz="1800"/>
            </a:pPr>
            <a:r>
              <a:t>- n: アイテム数 (スキル)</a:t>
            </a:r>
          </a:p>
          <a:p>
            <a:pPr lvl="1">
              <a:spcAft>
                <a:spcPts val="1000"/>
              </a:spcAft>
              <a:defRPr sz="1800"/>
            </a:pPr>
            <a:r>
              <a:t>- V_ij: ユーザ i のスキル j に対するスコア (習得レベル等)</a:t>
            </a:r>
          </a:p>
          <a:p>
            <a:pPr>
              <a:spcAft>
                <a:spcPts val="1000"/>
              </a:spcAft>
              <a:defRPr sz="1800"/>
            </a:pPr>
            <a:r>
              <a:t>出力: 2つの非負行列 W, H</a:t>
            </a:r>
          </a:p>
          <a:p>
            <a:pPr lvl="1">
              <a:spcAft>
                <a:spcPts val="1000"/>
              </a:spcAft>
              <a:defRPr sz="1800"/>
            </a:pPr>
            <a:r>
              <a:t>- W (m × r): 基底行列 (メンバー特性)</a:t>
            </a:r>
          </a:p>
          <a:p>
            <a:pPr lvl="1">
              <a:spcAft>
                <a:spcPts val="1000"/>
              </a:spcAft>
              <a:defRPr sz="1800"/>
            </a:pPr>
            <a:r>
              <a:t>- H (r × n): 係数行列 (スキル特性)</a:t>
            </a:r>
          </a:p>
          <a:p>
            <a:pPr lvl="1">
              <a:spcAft>
                <a:spcPts val="1000"/>
              </a:spcAft>
              <a:defRPr sz="1800"/>
            </a:pPr>
            <a:r>
              <a:t>- r: ランク (潜在因子数, r &lt;&lt; min(m, n))</a:t>
            </a:r>
          </a:p>
          <a:p>
            <a:pPr>
              <a:spcAft>
                <a:spcPts val="1000"/>
              </a:spcAft>
              <a:defRPr sz="1800"/>
            </a:pPr>
            <a:r>
              <a:t>近似式: V ≈ WH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1.3 NMF: 数理モデル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以下の目的関数を最小化する最適化問題として定式化される:</a:t>
            </a:r>
          </a:p>
          <a:p>
            <a:pPr>
              <a:spcAft>
                <a:spcPts val="1000"/>
              </a:spcAft>
              <a:defRPr sz="1800"/>
            </a:pPr>
            <a:r>
              <a:t>Objective Function (Frobenius Norm):</a:t>
            </a:r>
          </a:p>
          <a:p>
            <a:pPr lvl="1">
              <a:spcAft>
                <a:spcPts val="1000"/>
              </a:spcAft>
              <a:defRPr sz="1800"/>
            </a:pPr>
            <a:r>
              <a:t>min || V - WH ||_F^2</a:t>
            </a:r>
          </a:p>
          <a:p>
            <a:pPr lvl="1">
              <a:spcAft>
                <a:spcPts val="1000"/>
              </a:spcAft>
              <a:defRPr sz="1800"/>
            </a:pPr>
            <a:r>
              <a:t>subject to W, H ≧ 0</a:t>
            </a:r>
          </a:p>
          <a:p>
            <a:pPr>
              <a:spcAft>
                <a:spcPts val="1000"/>
              </a:spcAft>
              <a:defRPr sz="1800"/>
            </a:pPr>
            <a:r>
              <a:t>ここで、フロベニウスノルムは:</a:t>
            </a:r>
          </a:p>
          <a:p>
            <a:pPr lvl="1">
              <a:spcAft>
                <a:spcPts val="1000"/>
              </a:spcAft>
              <a:defRPr sz="1800"/>
            </a:pPr>
            <a:r>
              <a:t>|| A ||_F = √(Σ Σ |a_ij|^2)</a:t>
            </a:r>
          </a:p>
          <a:p>
            <a:pPr>
              <a:spcAft>
                <a:spcPts val="1000"/>
              </a:spcAft>
              <a:defRPr sz="1800"/>
            </a:pPr>
            <a:r>
              <a:t>別解: Kullback-Leibler Divergence (一般化KL情報量) を用いる場合もある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1.4 NMF: 最適化アルゴリズム (乗法更新則)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非凸最適化問題であるため、大域的最適解は保証されない</a:t>
            </a:r>
          </a:p>
          <a:p>
            <a:pPr>
              <a:spcAft>
                <a:spcPts val="1000"/>
              </a:spcAft>
              <a:defRPr sz="1800"/>
            </a:pPr>
            <a:r>
              <a:t>一般的に Lee &amp; Seung (2001) の Multiplicative Update Rules を使用</a:t>
            </a:r>
          </a:p>
          <a:p>
            <a:pPr>
              <a:spcAft>
                <a:spcPts val="1000"/>
              </a:spcAft>
              <a:defRPr sz="1800"/>
            </a:pPr>
            <a:r>
              <a:t>勾配降下法と異なり、学習率パラメータが不要で、非負制約を自然に満たす</a:t>
            </a:r>
          </a:p>
          <a:p>
            <a:pPr>
              <a:spcAft>
                <a:spcPts val="1000"/>
              </a:spcAft>
              <a:defRPr sz="1800"/>
            </a:pPr>
            <a:r>
              <a:t>更新式:</a:t>
            </a:r>
          </a:p>
          <a:p>
            <a:pPr lvl="1">
              <a:spcAft>
                <a:spcPts val="1000"/>
              </a:spcAft>
              <a:defRPr sz="1800"/>
            </a:pPr>
            <a:r>
              <a:t>H ← H .* (W^T V) ./ (W^T W H)</a:t>
            </a:r>
          </a:p>
          <a:p>
            <a:pPr lvl="1">
              <a:spcAft>
                <a:spcPts val="1000"/>
              </a:spcAft>
              <a:defRPr sz="1800"/>
            </a:pPr>
            <a:r>
              <a:t>W ← W .* (V H^T) ./ (W H H^T)</a:t>
            </a:r>
          </a:p>
          <a:p>
            <a:pPr lvl="1">
              <a:spcAft>
                <a:spcPts val="1000"/>
              </a:spcAft>
              <a:defRPr sz="1800"/>
            </a:pPr>
            <a:r>
              <a:t>(.* は要素ごとの積、./ は要素ごとの商)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1.5 NMF: 収束と停止条件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反復計算の流れ:</a:t>
            </a:r>
          </a:p>
          <a:p>
            <a:pPr lvl="1">
              <a:spcAft>
                <a:spcPts val="1000"/>
              </a:spcAft>
              <a:defRPr sz="1800"/>
            </a:pPr>
            <a:r>
              <a:t>1. W, H を非負の乱数で初期化</a:t>
            </a:r>
          </a:p>
          <a:p>
            <a:pPr lvl="1">
              <a:spcAft>
                <a:spcPts val="1000"/>
              </a:spcAft>
              <a:defRPr sz="1800"/>
            </a:pPr>
            <a:r>
              <a:t>2. H を更新</a:t>
            </a:r>
          </a:p>
          <a:p>
            <a:pPr lvl="1">
              <a:spcAft>
                <a:spcPts val="1000"/>
              </a:spcAft>
              <a:defRPr sz="1800"/>
            </a:pPr>
            <a:r>
              <a:t>3. W を更新</a:t>
            </a:r>
          </a:p>
          <a:p>
            <a:pPr lvl="1">
              <a:spcAft>
                <a:spcPts val="1000"/>
              </a:spcAft>
              <a:defRPr sz="1800"/>
            </a:pPr>
            <a:r>
              <a:t>4. 目的関数の変化が閾値以下になるまで 2-3 を繰り返す</a:t>
            </a:r>
          </a:p>
          <a:p>
            <a:pPr>
              <a:spcAft>
                <a:spcPts val="1000"/>
              </a:spcAft>
              <a:defRPr sz="1800"/>
            </a:pPr>
            <a:r>
              <a:t>局所解 (Local Minima) に陥る可能性があるため、初期値依存性がある</a:t>
            </a:r>
          </a:p>
          <a:p>
            <a:pPr>
              <a:spcAft>
                <a:spcPts val="1000"/>
              </a:spcAft>
              <a:defRPr sz="1800"/>
            </a:pPr>
            <a:r>
              <a:t>対策: 複数回の初期化で試行する、SVDベースの初期化 (NNDSVD) を用いる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1.6 NMF: アルゴリズムの特性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スパース性 (Sparsity):</a:t>
            </a:r>
          </a:p>
          <a:p>
            <a:pPr lvl="1">
              <a:spcAft>
                <a:spcPts val="1000"/>
              </a:spcAft>
              <a:defRPr sz="1800"/>
            </a:pPr>
            <a:r>
              <a:t>- 非負制約により、W, H の多くの要素が0になりやすい</a:t>
            </a:r>
          </a:p>
          <a:p>
            <a:pPr lvl="1">
              <a:spcAft>
                <a:spcPts val="1000"/>
              </a:spcAft>
              <a:defRPr sz="1800"/>
            </a:pPr>
            <a:r>
              <a:t>- 結果として、解釈可能な「部品」が抽出される</a:t>
            </a:r>
          </a:p>
          <a:p>
            <a:pPr>
              <a:spcAft>
                <a:spcPts val="1000"/>
              </a:spcAft>
              <a:defRPr sz="1800"/>
            </a:pPr>
            <a:r>
              <a:t>部分による全体表現 (Parts-based Representation):</a:t>
            </a:r>
          </a:p>
          <a:p>
            <a:pPr lvl="1">
              <a:spcAft>
                <a:spcPts val="1000"/>
              </a:spcAft>
              <a:defRPr sz="1800"/>
            </a:pPr>
            <a:r>
              <a:t>- 負の値（打ち消し合い）がないため、構成要素の「足し合わせ」のみで表現</a:t>
            </a:r>
          </a:p>
          <a:p>
            <a:pPr lvl="1">
              <a:spcAft>
                <a:spcPts val="1000"/>
              </a:spcAft>
              <a:defRPr sz="1800"/>
            </a:pPr>
            <a:r>
              <a:t>- 例: 「顔」画像 = 「目」+「鼻」+「口」の基底画像の和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1.7 NMF: 本システムでの実装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ライブラリ: scikit-learn (sklearn.decomposition.NMF)</a:t>
            </a:r>
          </a:p>
          <a:p>
            <a:pPr>
              <a:spcAft>
                <a:spcPts val="1000"/>
              </a:spcAft>
              <a:defRPr sz="1800"/>
            </a:pPr>
            <a:r>
              <a:t>パラメータ設定:</a:t>
            </a:r>
          </a:p>
          <a:p>
            <a:pPr lvl="1">
              <a:spcAft>
                <a:spcPts val="1000"/>
              </a:spcAft>
              <a:defRPr sz="1800"/>
            </a:pPr>
            <a:r>
              <a:t>- n_components (ランク): 20 (実験的に決定)</a:t>
            </a:r>
          </a:p>
          <a:p>
            <a:pPr lvl="1">
              <a:spcAft>
                <a:spcPts val="1000"/>
              </a:spcAft>
              <a:defRPr sz="1800"/>
            </a:pPr>
            <a:r>
              <a:t>- init: 'nndsvda' (NNDSVD with zeros filled with average)</a:t>
            </a:r>
          </a:p>
          <a:p>
            <a:pPr lvl="1">
              <a:spcAft>
                <a:spcPts val="1000"/>
              </a:spcAft>
              <a:defRPr sz="1800"/>
            </a:pPr>
            <a:r>
              <a:t>- solver: 'cd' (Coordinate Descent) または 'mu' (Multiplicative Update)</a:t>
            </a:r>
          </a:p>
          <a:p>
            <a:pPr>
              <a:spcAft>
                <a:spcPts val="1000"/>
              </a:spcAft>
              <a:defRPr sz="1800"/>
            </a:pPr>
            <a:r>
              <a:t>前処理:</a:t>
            </a:r>
          </a:p>
          <a:p>
            <a:pPr lvl="1">
              <a:spcAft>
                <a:spcPts val="1000"/>
              </a:spcAft>
              <a:defRPr sz="1800"/>
            </a:pPr>
            <a:r>
              <a:t>- 欠損値の補完 (0埋め)</a:t>
            </a:r>
          </a:p>
          <a:p>
            <a:pPr lvl="1">
              <a:spcAft>
                <a:spcPts val="1000"/>
              </a:spcAft>
              <a:defRPr sz="1800"/>
            </a:pPr>
            <a:r>
              <a:t>- 正規化 (TF-IDF的な重み付けも検討可能)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1.8 NMF: 推薦ロジック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スコア予測:</a:t>
            </a:r>
          </a:p>
          <a:p>
            <a:pPr lvl="1">
              <a:spcAft>
                <a:spcPts val="1000"/>
              </a:spcAft>
              <a:defRPr sz="1800"/>
            </a:pPr>
            <a:r>
              <a:t>Predicted_V = W × H</a:t>
            </a:r>
          </a:p>
          <a:p>
            <a:pPr lvl="1">
              <a:spcAft>
                <a:spcPts val="1000"/>
              </a:spcAft>
              <a:defRPr sz="1800"/>
            </a:pPr>
            <a:r>
              <a:t>ユーザー u の未習得スキル i に対するスコア = (W_u) ・ (H_i)^T</a:t>
            </a:r>
          </a:p>
          <a:p>
            <a:pPr>
              <a:spcAft>
                <a:spcPts val="1000"/>
              </a:spcAft>
              <a:defRPr sz="1800"/>
            </a:pPr>
            <a:r>
              <a:t>推薦リスト生成:</a:t>
            </a:r>
          </a:p>
          <a:p>
            <a:pPr lvl="1">
              <a:spcAft>
                <a:spcPts val="1000"/>
              </a:spcAft>
              <a:defRPr sz="1800"/>
            </a:pPr>
            <a:r>
              <a:t>1. 再構成行列を計算</a:t>
            </a:r>
          </a:p>
          <a:p>
            <a:pPr lvl="1">
              <a:spcAft>
                <a:spcPts val="1000"/>
              </a:spcAft>
              <a:defRPr sz="1800"/>
            </a:pPr>
            <a:r>
              <a:t>2. 既習得スキルを除外（マスク）</a:t>
            </a:r>
          </a:p>
          <a:p>
            <a:pPr lvl="1">
              <a:spcAft>
                <a:spcPts val="1000"/>
              </a:spcAft>
              <a:defRPr sz="1800"/>
            </a:pPr>
            <a:r>
              <a:t>3. スコアが高い順にトップNを抽出</a:t>
            </a:r>
          </a:p>
          <a:p>
            <a:pPr>
              <a:spcAft>
                <a:spcPts val="1000"/>
              </a:spcAft>
              <a:defRPr sz="1800"/>
            </a:pPr>
            <a:r>
              <a:t>解釈: 「あなたの潜在特性ベクトル W_u は、このスキル H_i と相性が良い」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1.9 NMF: 概念図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巨大な行列を2つの小さな行列に分解するイメージ</a:t>
            </a:r>
          </a:p>
          <a:p>
            <a:pPr>
              <a:spcAft>
                <a:spcPts val="1000"/>
              </a:spcAft>
              <a:defRPr sz="1800"/>
            </a:pPr>
            <a:r>
              <a:t>左側: ユーザーの潜在特性</a:t>
            </a:r>
          </a:p>
          <a:p>
            <a:pPr>
              <a:spcAft>
                <a:spcPts val="1000"/>
              </a:spcAft>
              <a:defRPr sz="1800"/>
            </a:pPr>
            <a:r>
              <a:t>右側: スキルの潜在特性</a:t>
            </a:r>
          </a:p>
          <a:p>
            <a:pPr>
              <a:spcAft>
                <a:spcPts val="1000"/>
              </a:spcAft>
              <a:defRPr sz="1800"/>
            </a:pPr>
            <a:r>
              <a:t>その積が元のデータを近似する</a:t>
            </a:r>
          </a:p>
        </p:txBody>
      </p:sp>
      <p:pic>
        <p:nvPicPr>
          <p:cNvPr id="4" name="Picture 3" descr="nmf_concept_17635481813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1.10 NMF: 利点と課題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利点:</a:t>
            </a:r>
          </a:p>
          <a:p>
            <a:pPr lvl="1">
              <a:spcAft>
                <a:spcPts val="1000"/>
              </a:spcAft>
              <a:defRPr sz="1800"/>
            </a:pPr>
            <a:r>
              <a:t>- データ駆動で未知のパターンを発見できる (Serendipity)</a:t>
            </a:r>
          </a:p>
          <a:p>
            <a:pPr lvl="1">
              <a:spcAft>
                <a:spcPts val="1000"/>
              </a:spcAft>
              <a:defRPr sz="1800"/>
            </a:pPr>
            <a:r>
              <a:t>- 類似ユーザー・類似アイテムの情報を同時に活用できる</a:t>
            </a:r>
          </a:p>
          <a:p>
            <a:pPr lvl="1">
              <a:spcAft>
                <a:spcPts val="1000"/>
              </a:spcAft>
              <a:defRPr sz="1800"/>
            </a:pPr>
            <a:r>
              <a:t>- 実装が比較的容易で高速</a:t>
            </a:r>
          </a:p>
          <a:p>
            <a:pPr>
              <a:spcAft>
                <a:spcPts val="1000"/>
              </a:spcAft>
              <a:defRPr sz="1800"/>
            </a:pPr>
            <a:r>
              <a:t>課題:</a:t>
            </a:r>
          </a:p>
          <a:p>
            <a:pPr lvl="1">
              <a:spcAft>
                <a:spcPts val="1000"/>
              </a:spcAft>
              <a:defRPr sz="1800"/>
            </a:pPr>
            <a:r>
              <a:t>- コールドスタート問題 (新規ユーザー・スキルへの対応困難)</a:t>
            </a:r>
          </a:p>
          <a:p>
            <a:pPr lvl="1">
              <a:spcAft>
                <a:spcPts val="1000"/>
              </a:spcAft>
              <a:defRPr sz="1800"/>
            </a:pPr>
            <a:r>
              <a:t>- 説明可能性が限定的 (「なぜこの潜在因子なのか」の説明が難しい)</a:t>
            </a:r>
          </a:p>
          <a:p>
            <a:pPr lvl="1">
              <a:spcAft>
                <a:spcPts val="1000"/>
              </a:spcAft>
              <a:defRPr sz="1800"/>
            </a:pPr>
            <a:r>
              <a:t>- スパース性が極端に高いデータでは精度が低下する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Graph (スキル遷移グラフ &amp; Node2Vec)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2.1 Graph: 概要と目的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目的: スキルの習得順序（遷移）をグラフ構造としてモデル化し、最適な学習パスを提案する</a:t>
            </a:r>
          </a:p>
          <a:p>
            <a:pPr>
              <a:spcAft>
                <a:spcPts val="1000"/>
              </a:spcAft>
              <a:defRPr sz="1800"/>
            </a:pPr>
            <a:r>
              <a:t>アプローチ: グラフ理論 + グラフ埋め込み (Graph Embedding)</a:t>
            </a:r>
          </a:p>
          <a:p>
            <a:pPr>
              <a:spcAft>
                <a:spcPts val="1000"/>
              </a:spcAft>
              <a:defRPr sz="1800"/>
            </a:pPr>
            <a:r>
              <a:t>特徴: 「順序性」と「近接性」を明示的に扱う</a:t>
            </a:r>
          </a:p>
          <a:p>
            <a:pPr>
              <a:spcAft>
                <a:spcPts val="1000"/>
              </a:spcAft>
              <a:defRPr sz="1800"/>
            </a:pPr>
            <a:r>
              <a:t>応用: 経路探索、次アイテム推薦、リンク予測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2.2 Graph: グラフ構築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ノード (V): スキル</a:t>
            </a:r>
          </a:p>
          <a:p>
            <a:pPr>
              <a:spcAft>
                <a:spcPts val="1000"/>
              </a:spcAft>
              <a:defRPr sz="1800"/>
            </a:pPr>
            <a:r>
              <a:t>エッジ (E): 習得の遷移 (スキルA → スキルB)</a:t>
            </a:r>
          </a:p>
          <a:p>
            <a:pPr>
              <a:spcAft>
                <a:spcPts val="1000"/>
              </a:spcAft>
              <a:defRPr sz="1800"/>
            </a:pPr>
            <a:r>
              <a:t>エッジ重み (Weight):</a:t>
            </a:r>
          </a:p>
          <a:p>
            <a:pPr lvl="1">
              <a:spcAft>
                <a:spcPts val="1000"/>
              </a:spcAft>
              <a:defRPr sz="1800"/>
            </a:pPr>
            <a:r>
              <a:t>- 遷移人数 (Frequency)</a:t>
            </a:r>
          </a:p>
          <a:p>
            <a:pPr lvl="1">
              <a:spcAft>
                <a:spcPts val="1000"/>
              </a:spcAft>
              <a:defRPr sz="1800"/>
            </a:pPr>
            <a:r>
              <a:t>- 時間減衰 (Time Decay): 最近の遷移を重視</a:t>
            </a:r>
          </a:p>
          <a:p>
            <a:pPr lvl="1">
              <a:spcAft>
                <a:spcPts val="1000"/>
              </a:spcAft>
              <a:defRPr sz="1800"/>
            </a:pPr>
            <a:r>
              <a:t>- w_ij = Σ exp(-λ * Δt)</a:t>
            </a:r>
          </a:p>
          <a:p>
            <a:pPr>
              <a:spcAft>
                <a:spcPts val="1000"/>
              </a:spcAft>
              <a:defRPr sz="1800"/>
            </a:pPr>
            <a:r>
              <a:t>有向グラフ (Directed Graph) として構築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2.3 Node2Vec: アルゴリズム概要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目的: グラフ上のノードを低次元ベクトル空間に写像する</a:t>
            </a:r>
          </a:p>
          <a:p>
            <a:pPr>
              <a:spcAft>
                <a:spcPts val="1000"/>
              </a:spcAft>
              <a:defRPr sz="1800"/>
            </a:pPr>
            <a:r>
              <a:t>基本思想: Skip-gram (Word2Vec) のグラフへの拡張</a:t>
            </a:r>
          </a:p>
          <a:p>
            <a:pPr lvl="1">
              <a:spcAft>
                <a:spcPts val="1000"/>
              </a:spcAft>
              <a:defRPr sz="1800"/>
            </a:pPr>
            <a:r>
              <a:t>- 「グラフ上で近くにあるノードは、ベクトル空間でも近くにあるべき」</a:t>
            </a:r>
          </a:p>
          <a:p>
            <a:pPr>
              <a:spcAft>
                <a:spcPts val="1000"/>
              </a:spcAft>
              <a:defRPr sz="1800"/>
            </a:pPr>
            <a:r>
              <a:t>手順:</a:t>
            </a:r>
          </a:p>
          <a:p>
            <a:pPr lvl="1">
              <a:spcAft>
                <a:spcPts val="1000"/>
              </a:spcAft>
              <a:defRPr sz="1800"/>
            </a:pPr>
            <a:r>
              <a:t>1. ランダムウォークでノード列（文脈）を生成</a:t>
            </a:r>
          </a:p>
          <a:p>
            <a:pPr lvl="1">
              <a:spcAft>
                <a:spcPts val="1000"/>
              </a:spcAft>
              <a:defRPr sz="1800"/>
            </a:pPr>
            <a:r>
              <a:t>2. Skip-gramモデルでベクトル表現を学習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2.4 Node2Vec: Biased Random Walk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探索の制御パラメータ p, q:</a:t>
            </a:r>
          </a:p>
          <a:p>
            <a:pPr lvl="1">
              <a:spcAft>
                <a:spcPts val="1000"/>
              </a:spcAft>
              <a:defRPr sz="1800"/>
            </a:pPr>
            <a:r>
              <a:t>- Return parameter (p): 前のノードに戻る確率 (BFS的挙動、局所構造)</a:t>
            </a:r>
          </a:p>
          <a:p>
            <a:pPr lvl="1">
              <a:spcAft>
                <a:spcPts val="1000"/>
              </a:spcAft>
              <a:defRPr sz="1800"/>
            </a:pPr>
            <a:r>
              <a:t>- In-out parameter (q): 遠くへ行く確率 (DFS的挙動、大域構造)</a:t>
            </a:r>
          </a:p>
          <a:p>
            <a:pPr>
              <a:spcAft>
                <a:spcPts val="1000"/>
              </a:spcAft>
              <a:defRPr sz="1800"/>
            </a:pPr>
            <a:r>
              <a:t>柔軟性:</a:t>
            </a:r>
          </a:p>
          <a:p>
            <a:pPr lvl="1">
              <a:spcAft>
                <a:spcPts val="1000"/>
              </a:spcAft>
              <a:defRPr sz="1800"/>
            </a:pPr>
            <a:r>
              <a:t>- p, q の調整により、同質性 (Homophily) と 構造的等価性 (Structural Equivalence) のバランスをとる</a:t>
            </a:r>
          </a:p>
          <a:p>
            <a:pPr>
              <a:spcAft>
                <a:spcPts val="1000"/>
              </a:spcAft>
              <a:defRPr sz="1800"/>
            </a:pPr>
            <a:r>
              <a:t>本システム設定: q &gt; 1 (DFS寄り) でパスの連続性を重視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2.5 Node2Vec: 数理モデル (Skip-gram)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目的関数 (対数尤度の最大化):</a:t>
            </a:r>
          </a:p>
          <a:p>
            <a:pPr lvl="1">
              <a:spcAft>
                <a:spcPts val="1000"/>
              </a:spcAft>
              <a:defRPr sz="1800"/>
            </a:pPr>
            <a:r>
              <a:t>max Σ_{u ∈ V} Σ_{v ∈ N_R(u)} log P(v | u)</a:t>
            </a:r>
          </a:p>
          <a:p>
            <a:pPr lvl="1">
              <a:spcAft>
                <a:spcPts val="1000"/>
              </a:spcAft>
              <a:defRPr sz="1800"/>
            </a:pPr>
            <a:r>
              <a:t>- N_R(u): ランダムウォークで生成された u の近傍ノード集合</a:t>
            </a:r>
          </a:p>
          <a:p>
            <a:pPr>
              <a:spcAft>
                <a:spcPts val="1000"/>
              </a:spcAft>
              <a:defRPr sz="1800"/>
            </a:pPr>
            <a:r>
              <a:t>Softmax確率:</a:t>
            </a:r>
          </a:p>
          <a:p>
            <a:pPr lvl="1">
              <a:spcAft>
                <a:spcPts val="1000"/>
              </a:spcAft>
              <a:defRPr sz="1800"/>
            </a:pPr>
            <a:r>
              <a:t>P(v | u) = exp(u・v) / Σ_{n ∈ V} exp(u・n)</a:t>
            </a:r>
          </a:p>
          <a:p>
            <a:pPr>
              <a:spcAft>
                <a:spcPts val="1000"/>
              </a:spcAft>
              <a:defRPr sz="1800"/>
            </a:pPr>
            <a:r>
              <a:t>計算効率化:</a:t>
            </a:r>
          </a:p>
          <a:p>
            <a:pPr lvl="1">
              <a:spcAft>
                <a:spcPts val="1000"/>
              </a:spcAft>
              <a:defRPr sz="1800"/>
            </a:pPr>
            <a:r>
              <a:t>- Negative Sampling を用いて分母の計算コストを削減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2.6 Graph: 推薦ロジック (1) - 直接遷移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アプローチ: グラフ上の直接的なつながりを評価</a:t>
            </a:r>
          </a:p>
          <a:p>
            <a:pPr>
              <a:spcAft>
                <a:spcPts val="1000"/>
              </a:spcAft>
              <a:defRPr sz="1800"/>
            </a:pPr>
            <a:r>
              <a:t>スコア計算:</a:t>
            </a:r>
          </a:p>
          <a:p>
            <a:pPr lvl="1">
              <a:spcAft>
                <a:spcPts val="1000"/>
              </a:spcAft>
              <a:defRPr sz="1800"/>
            </a:pPr>
            <a:r>
              <a:t>Score(Target) = Σ_{Owned} Weight(Owned → Target)</a:t>
            </a:r>
          </a:p>
          <a:p>
            <a:pPr>
              <a:spcAft>
                <a:spcPts val="1000"/>
              </a:spcAft>
              <a:defRPr sz="1800"/>
            </a:pPr>
            <a:r>
              <a:t>特徴:</a:t>
            </a:r>
          </a:p>
          <a:p>
            <a:pPr lvl="1">
              <a:spcAft>
                <a:spcPts val="1000"/>
              </a:spcAft>
              <a:defRPr sz="1800"/>
            </a:pPr>
            <a:r>
              <a:t>- 実績に基づく確実な「次の一歩」</a:t>
            </a:r>
          </a:p>
          <a:p>
            <a:pPr lvl="1">
              <a:spcAft>
                <a:spcPts val="1000"/>
              </a:spcAft>
              <a:defRPr sz="1800"/>
            </a:pPr>
            <a:r>
              <a:t>- エッジが存在しない（誰も遷移していない）ペアは推薦されない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2.7 Graph: 推薦ロジック (2) - 埋め込み類似度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アプローチ: Node2Vecで得られたベクトル間の類似度</a:t>
            </a:r>
          </a:p>
          <a:p>
            <a:pPr>
              <a:spcAft>
                <a:spcPts val="1000"/>
              </a:spcAft>
              <a:defRPr sz="1800"/>
            </a:pPr>
            <a:r>
              <a:t>指標: コサイン類似度 (Cosine Similarity)</a:t>
            </a:r>
          </a:p>
          <a:p>
            <a:pPr lvl="1">
              <a:spcAft>
                <a:spcPts val="1000"/>
              </a:spcAft>
              <a:defRPr sz="1800"/>
            </a:pPr>
            <a:r>
              <a:t>Sim(A, B) = (A・B) / (||A|| ||B||)</a:t>
            </a:r>
          </a:p>
          <a:p>
            <a:pPr>
              <a:spcAft>
                <a:spcPts val="1000"/>
              </a:spcAft>
              <a:defRPr sz="1800"/>
            </a:pPr>
            <a:r>
              <a:t>特徴:</a:t>
            </a:r>
          </a:p>
          <a:p>
            <a:pPr lvl="1">
              <a:spcAft>
                <a:spcPts val="1000"/>
              </a:spcAft>
              <a:defRPr sz="1800"/>
            </a:pPr>
            <a:r>
              <a:t>- 直接の遷移がなくても、文脈（周辺構造）が似ていれば推薦可能</a:t>
            </a:r>
          </a:p>
          <a:p>
            <a:pPr lvl="1">
              <a:spcAft>
                <a:spcPts val="1000"/>
              </a:spcAft>
              <a:defRPr sz="1800"/>
            </a:pPr>
            <a:r>
              <a:t>- 潜在的な関連性を捕捉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2.8 Graph: 本システムでの実装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ライブラリ: networkx, node2vec</a:t>
            </a:r>
          </a:p>
          <a:p>
            <a:pPr>
              <a:spcAft>
                <a:spcPts val="1000"/>
              </a:spcAft>
              <a:defRPr sz="1800"/>
            </a:pPr>
            <a:r>
              <a:t>パラメータ:</a:t>
            </a:r>
          </a:p>
          <a:p>
            <a:pPr lvl="1">
              <a:spcAft>
                <a:spcPts val="1000"/>
              </a:spcAft>
              <a:defRPr sz="1800"/>
            </a:pPr>
            <a:r>
              <a:t>- dimensions: 64 (ベクトル次元数)</a:t>
            </a:r>
          </a:p>
          <a:p>
            <a:pPr lvl="1">
              <a:spcAft>
                <a:spcPts val="1000"/>
              </a:spcAft>
              <a:defRPr sz="1800"/>
            </a:pPr>
            <a:r>
              <a:t>- walk_length: 10 (ウォーク長)</a:t>
            </a:r>
          </a:p>
          <a:p>
            <a:pPr lvl="1">
              <a:spcAft>
                <a:spcPts val="1000"/>
              </a:spcAft>
              <a:defRPr sz="1800"/>
            </a:pPr>
            <a:r>
              <a:t>- num_walks: 80 (各ノードからの試行回数)</a:t>
            </a:r>
          </a:p>
          <a:p>
            <a:pPr lvl="1">
              <a:spcAft>
                <a:spcPts val="1000"/>
              </a:spcAft>
              <a:defRPr sz="1800"/>
            </a:pPr>
            <a:r>
              <a:t>- window: 5 (Skip-gramのウィンドウサイズ)</a:t>
            </a:r>
          </a:p>
          <a:p>
            <a:pPr>
              <a:spcAft>
                <a:spcPts val="1000"/>
              </a:spcAft>
              <a:defRPr sz="1800"/>
            </a:pPr>
            <a:r>
              <a:t>ハイブリッド推薦:</a:t>
            </a:r>
          </a:p>
          <a:p>
            <a:pPr lvl="1">
              <a:spcAft>
                <a:spcPts val="1000"/>
              </a:spcAft>
              <a:defRPr sz="1800"/>
            </a:pPr>
            <a:r>
              <a:t>直接遷移スコアと埋め込み類似度スコアを重み付け統合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2.9 Graph: 概念図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ノード（スキル）とエッジ（遷移）によるネットワーク構造</a:t>
            </a:r>
          </a:p>
          <a:p>
            <a:pPr>
              <a:spcAft>
                <a:spcPts val="1000"/>
              </a:spcAft>
              <a:defRPr sz="1800"/>
            </a:pPr>
            <a:r>
              <a:t>太いエッジは多くの人が通った「王道ルート」</a:t>
            </a:r>
          </a:p>
          <a:p>
            <a:pPr>
              <a:spcAft>
                <a:spcPts val="1000"/>
              </a:spcAft>
              <a:defRPr sz="1800"/>
            </a:pPr>
            <a:r>
              <a:t>ランダムウォークにより、グラフ構造をベクトル化する</a:t>
            </a:r>
          </a:p>
        </p:txBody>
      </p:sp>
      <p:pic>
        <p:nvPicPr>
          <p:cNvPr id="4" name="Picture 3" descr="graph_concept_17635481891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2.10 Graph: 利点と課題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利点:</a:t>
            </a:r>
          </a:p>
          <a:p>
            <a:pPr lvl="1">
              <a:spcAft>
                <a:spcPts val="1000"/>
              </a:spcAft>
              <a:defRPr sz="1800"/>
            </a:pPr>
            <a:r>
              <a:t>- 「順序」を考慮できる（NMFにはない特徴）</a:t>
            </a:r>
          </a:p>
          <a:p>
            <a:pPr lvl="1">
              <a:spcAft>
                <a:spcPts val="1000"/>
              </a:spcAft>
              <a:defRPr sz="1800"/>
            </a:pPr>
            <a:r>
              <a:t>- 説明可能性が高い（「Aを学んだ人はBを学んでいます」）</a:t>
            </a:r>
          </a:p>
          <a:p>
            <a:pPr lvl="1">
              <a:spcAft>
                <a:spcPts val="1000"/>
              </a:spcAft>
              <a:defRPr sz="1800"/>
            </a:pPr>
            <a:r>
              <a:t>- ネットワーク分析の指標（中心性など）も活用可能</a:t>
            </a:r>
          </a:p>
          <a:p>
            <a:pPr>
              <a:spcAft>
                <a:spcPts val="1000"/>
              </a:spcAft>
              <a:defRPr sz="1800"/>
            </a:pPr>
            <a:r>
              <a:t>課題:</a:t>
            </a:r>
          </a:p>
          <a:p>
            <a:pPr lvl="1">
              <a:spcAft>
                <a:spcPts val="1000"/>
              </a:spcAft>
              <a:defRPr sz="1800"/>
            </a:pPr>
            <a:r>
              <a:t>- データが少ないとグラフが分断される</a:t>
            </a:r>
          </a:p>
          <a:p>
            <a:pPr lvl="1">
              <a:spcAft>
                <a:spcPts val="1000"/>
              </a:spcAft>
              <a:defRPr sz="1800"/>
            </a:pPr>
            <a:r>
              <a:t>- 過去のトレンドに引きずられやすい（ポピュラリティバイアス）</a:t>
            </a:r>
          </a:p>
          <a:p>
            <a:pPr lvl="1">
              <a:spcAft>
                <a:spcPts val="1000"/>
              </a:spcAft>
              <a:defRPr sz="1800"/>
            </a:pPr>
            <a:r>
              <a:t>- 計算コスト（特に大規模グラフでの埋め込み学習）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SEM (構造方程式モデリング)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3.1 SEM: 概要と目的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目的: 観測変数（スキル）の背後にある潜在変数（能力・因子）と、その因果構造をモデル化する</a:t>
            </a:r>
          </a:p>
          <a:p>
            <a:pPr>
              <a:spcAft>
                <a:spcPts val="1000"/>
              </a:spcAft>
              <a:defRPr sz="1800"/>
            </a:pPr>
            <a:r>
              <a:t>アプローチ: 共分散構造分析</a:t>
            </a:r>
          </a:p>
          <a:p>
            <a:pPr>
              <a:spcAft>
                <a:spcPts val="1000"/>
              </a:spcAft>
              <a:defRPr sz="1800"/>
            </a:pPr>
            <a:r>
              <a:t>特徴: 仮説検証型のアプローチ（モデル構造を人間が定義）</a:t>
            </a:r>
          </a:p>
          <a:p>
            <a:pPr>
              <a:spcAft>
                <a:spcPts val="1000"/>
              </a:spcAft>
              <a:defRPr sz="1800"/>
            </a:pPr>
            <a:r>
              <a:t>応用: 心理統計、社会科学、マーケティング、能力評価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3.2 SEM: モデルの構成要素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1. 測定モデル (Measurement Model):</a:t>
            </a:r>
          </a:p>
          <a:p>
            <a:pPr lvl="1">
              <a:spcAft>
                <a:spcPts val="1000"/>
              </a:spcAft>
              <a:defRPr sz="1800"/>
            </a:pPr>
            <a:r>
              <a:t>- 潜在変数が観測変数をどう規定するか</a:t>
            </a:r>
          </a:p>
          <a:p>
            <a:pPr lvl="1">
              <a:spcAft>
                <a:spcPts val="1000"/>
              </a:spcAft>
              <a:defRPr sz="1800"/>
            </a:pPr>
            <a:r>
              <a:t>- 因子分析に相当</a:t>
            </a:r>
          </a:p>
          <a:p>
            <a:pPr lvl="1">
              <a:spcAft>
                <a:spcPts val="1000"/>
              </a:spcAft>
              <a:defRPr sz="1800"/>
            </a:pPr>
            <a:r>
              <a:t>- 例: 「基礎力」→「Python」「SQL」</a:t>
            </a:r>
          </a:p>
          <a:p>
            <a:pPr>
              <a:spcAft>
                <a:spcPts val="1000"/>
              </a:spcAft>
              <a:defRPr sz="1800"/>
            </a:pPr>
            <a:r>
              <a:t>2. 構造モデル (Structural Model):</a:t>
            </a:r>
          </a:p>
          <a:p>
            <a:pPr lvl="1">
              <a:spcAft>
                <a:spcPts val="1000"/>
              </a:spcAft>
              <a:defRPr sz="1800"/>
            </a:pPr>
            <a:r>
              <a:t>- 潜在変数間の因果関係</a:t>
            </a:r>
          </a:p>
          <a:p>
            <a:pPr lvl="1">
              <a:spcAft>
                <a:spcPts val="1000"/>
              </a:spcAft>
              <a:defRPr sz="1800"/>
            </a:pPr>
            <a:r>
              <a:t>- 回帰分析の拡張</a:t>
            </a:r>
          </a:p>
          <a:p>
            <a:pPr lvl="1">
              <a:spcAft>
                <a:spcPts val="1000"/>
              </a:spcAft>
              <a:defRPr sz="1800"/>
            </a:pPr>
            <a:r>
              <a:t>- 例: 「基礎力」→「応用力」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3.3 SEM: 数理モデル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構造方程式:</a:t>
            </a:r>
          </a:p>
          <a:p>
            <a:pPr lvl="1">
              <a:spcAft>
                <a:spcPts val="1000"/>
              </a:spcAft>
              <a:defRPr sz="1800"/>
            </a:pPr>
            <a:r>
              <a:t>η = Bη + Γξ + ζ</a:t>
            </a:r>
          </a:p>
          <a:p>
            <a:pPr lvl="1">
              <a:spcAft>
                <a:spcPts val="1000"/>
              </a:spcAft>
              <a:defRPr sz="1800"/>
            </a:pPr>
            <a:r>
              <a:t>- η: 内生潜在変数, ξ: 外生潜在変数</a:t>
            </a:r>
          </a:p>
          <a:p>
            <a:pPr lvl="1">
              <a:spcAft>
                <a:spcPts val="1000"/>
              </a:spcAft>
              <a:defRPr sz="1800"/>
            </a:pPr>
            <a:r>
              <a:t>- B, Γ: パス係数行列, ζ: 誤差項</a:t>
            </a:r>
          </a:p>
          <a:p>
            <a:pPr>
              <a:spcAft>
                <a:spcPts val="1000"/>
              </a:spcAft>
              <a:defRPr sz="1800"/>
            </a:pPr>
            <a:r>
              <a:t>測定方程式:</a:t>
            </a:r>
          </a:p>
          <a:p>
            <a:pPr lvl="1">
              <a:spcAft>
                <a:spcPts val="1000"/>
              </a:spcAft>
              <a:defRPr sz="1800"/>
            </a:pPr>
            <a:r>
              <a:t>y = Λ_y η + ε</a:t>
            </a:r>
          </a:p>
          <a:p>
            <a:pPr lvl="1">
              <a:spcAft>
                <a:spcPts val="1000"/>
              </a:spcAft>
              <a:defRPr sz="1800"/>
            </a:pPr>
            <a:r>
              <a:t>x = Λ_x ξ + δ</a:t>
            </a:r>
          </a:p>
          <a:p>
            <a:pPr lvl="1">
              <a:spcAft>
                <a:spcPts val="1000"/>
              </a:spcAft>
              <a:defRPr sz="1800"/>
            </a:pPr>
            <a:r>
              <a:t>- x, y: 観測変数</a:t>
            </a:r>
          </a:p>
          <a:p>
            <a:pPr lvl="1">
              <a:spcAft>
                <a:spcPts val="1000"/>
              </a:spcAft>
              <a:defRPr sz="1800"/>
            </a:pPr>
            <a:r>
              <a:t>- Λ: 因子負荷行列, ε, δ: 測定誤差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3.4 SEM: パラメータ推定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目的: モデルから導かれる共分散行列 Σ(θ) が、データの標本共分散行列 S に近づくようにパラメータ θ を推定</a:t>
            </a:r>
          </a:p>
          <a:p>
            <a:pPr>
              <a:spcAft>
                <a:spcPts val="1000"/>
              </a:spcAft>
              <a:defRPr sz="1800"/>
            </a:pPr>
            <a:r>
              <a:t>推定法: 最尤推定法 (Maximum Likelihood Estimation: ML)</a:t>
            </a:r>
          </a:p>
          <a:p>
            <a:pPr>
              <a:spcAft>
                <a:spcPts val="1000"/>
              </a:spcAft>
              <a:defRPr sz="1800"/>
            </a:pPr>
            <a:r>
              <a:t>適合関数 (Fitting Function):</a:t>
            </a:r>
          </a:p>
          <a:p>
            <a:pPr lvl="1">
              <a:spcAft>
                <a:spcPts val="1000"/>
              </a:spcAft>
              <a:defRPr sz="1800"/>
            </a:pPr>
            <a:r>
              <a:t>F_ML = log|Σ(θ)| + tr(S Σ(θ)^-1) - log|S| - p</a:t>
            </a:r>
          </a:p>
          <a:p>
            <a:pPr lvl="1">
              <a:spcAft>
                <a:spcPts val="1000"/>
              </a:spcAft>
              <a:defRPr sz="1800"/>
            </a:pPr>
            <a:r>
              <a:t>- p: 変数の数</a:t>
            </a:r>
          </a:p>
          <a:p>
            <a:pPr lvl="1">
              <a:spcAft>
                <a:spcPts val="1000"/>
              </a:spcAft>
              <a:defRPr sz="1800"/>
            </a:pPr>
            <a:r>
              <a:t>- 多変量正規分布を仮定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3.5 SEM: モデル適合度指標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モデルの良さを評価する指標:</a:t>
            </a:r>
          </a:p>
          <a:p>
            <a:pPr>
              <a:spcAft>
                <a:spcPts val="1000"/>
              </a:spcAft>
              <a:defRPr sz="1800"/>
            </a:pPr>
            <a:r>
              <a:t>GFI (Goodness of Fit Index):</a:t>
            </a:r>
          </a:p>
          <a:p>
            <a:pPr lvl="1">
              <a:spcAft>
                <a:spcPts val="1000"/>
              </a:spcAft>
              <a:defRPr sz="1800"/>
            </a:pPr>
            <a:r>
              <a:t>- 決定係数のようなもの。0.9以上が目安。</a:t>
            </a:r>
          </a:p>
          <a:p>
            <a:pPr>
              <a:spcAft>
                <a:spcPts val="1000"/>
              </a:spcAft>
              <a:defRPr sz="1800"/>
            </a:pPr>
            <a:r>
              <a:t>RMSEA (Root Mean Square Error of Approximation):</a:t>
            </a:r>
          </a:p>
          <a:p>
            <a:pPr lvl="1">
              <a:spcAft>
                <a:spcPts val="1000"/>
              </a:spcAft>
              <a:defRPr sz="1800"/>
            </a:pPr>
            <a:r>
              <a:t>- 近似誤差の平均。0.05以下が良い。</a:t>
            </a:r>
          </a:p>
          <a:p>
            <a:pPr>
              <a:spcAft>
                <a:spcPts val="1000"/>
              </a:spcAft>
              <a:defRPr sz="1800"/>
            </a:pPr>
            <a:r>
              <a:t>CFI (Comparative Fit Index):</a:t>
            </a:r>
          </a:p>
          <a:p>
            <a:pPr lvl="1">
              <a:spcAft>
                <a:spcPts val="1000"/>
              </a:spcAft>
              <a:defRPr sz="1800"/>
            </a:pPr>
            <a:r>
              <a:t>- 独立モデルとの比較。0.95以上が良い。</a:t>
            </a:r>
          </a:p>
          <a:p>
            <a:pPr>
              <a:spcAft>
                <a:spcPts val="1000"/>
              </a:spcAft>
              <a:defRPr sz="1800"/>
            </a:pPr>
            <a:r>
              <a:t>AIC (Akaike Information Criterion):</a:t>
            </a:r>
          </a:p>
          <a:p>
            <a:pPr lvl="1">
              <a:spcAft>
                <a:spcPts val="1000"/>
              </a:spcAft>
              <a:defRPr sz="1800"/>
            </a:pPr>
            <a:r>
              <a:t>- モデル比較用（小さいほど良い）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3.6 SEM: 本システムでの実装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実装: Pythonでのスクラッチ実装 (UnifiedSEMEstimator)</a:t>
            </a:r>
          </a:p>
          <a:p>
            <a:pPr>
              <a:spcAft>
                <a:spcPts val="1000"/>
              </a:spcAft>
              <a:defRPr sz="1800"/>
            </a:pPr>
            <a:r>
              <a:t>最適化: scipy.optimize.minimize を使用</a:t>
            </a:r>
          </a:p>
          <a:p>
            <a:pPr lvl="1">
              <a:spcAft>
                <a:spcPts val="1000"/>
              </a:spcAft>
              <a:defRPr sz="1800"/>
            </a:pPr>
            <a:r>
              <a:t>- 制約付き最適化 (分散≧0 等)</a:t>
            </a:r>
          </a:p>
          <a:p>
            <a:pPr>
              <a:spcAft>
                <a:spcPts val="1000"/>
              </a:spcAft>
              <a:defRPr sz="1800"/>
            </a:pPr>
            <a:r>
              <a:t>モデル定義:</a:t>
            </a:r>
          </a:p>
          <a:p>
            <a:pPr lvl="1">
              <a:spcAft>
                <a:spcPts val="1000"/>
              </a:spcAft>
              <a:defRPr sz="1800"/>
            </a:pPr>
            <a:r>
              <a:t>- キャリアパス階層に基づき、測定モデルと構造モデルを動的に生成</a:t>
            </a:r>
          </a:p>
          <a:p>
            <a:pPr lvl="1">
              <a:spcAft>
                <a:spcPts val="1000"/>
              </a:spcAft>
              <a:defRPr sz="1800"/>
            </a:pPr>
            <a:r>
              <a:t>- 例: Stage1(潜在) → Stage2(潜在) というパスを固定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3.7 SEM: 推薦ロジック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因子スコアの推定:</a:t>
            </a:r>
          </a:p>
          <a:p>
            <a:pPr lvl="1">
              <a:spcAft>
                <a:spcPts val="1000"/>
              </a:spcAft>
              <a:defRPr sz="1800"/>
            </a:pPr>
            <a:r>
              <a:t>- メンバーの観測スキルから、潜在変数（能力値）を推定</a:t>
            </a:r>
          </a:p>
          <a:p>
            <a:pPr>
              <a:spcAft>
                <a:spcPts val="1000"/>
              </a:spcAft>
              <a:defRPr sz="1800"/>
            </a:pPr>
            <a:r>
              <a:t>ギャップ分析:</a:t>
            </a:r>
          </a:p>
          <a:p>
            <a:pPr lvl="1">
              <a:spcAft>
                <a:spcPts val="1000"/>
              </a:spcAft>
              <a:defRPr sz="1800"/>
            </a:pPr>
            <a:r>
              <a:t>- 目標とするキャリアステージ（潜在変数）に必要なスコアと現状の差分</a:t>
            </a:r>
          </a:p>
          <a:p>
            <a:pPr>
              <a:spcAft>
                <a:spcPts val="1000"/>
              </a:spcAft>
              <a:defRPr sz="1800"/>
            </a:pPr>
            <a:r>
              <a:t>推薦:</a:t>
            </a:r>
          </a:p>
          <a:p>
            <a:pPr lvl="1">
              <a:spcAft>
                <a:spcPts val="1000"/>
              </a:spcAft>
              <a:defRPr sz="1800"/>
            </a:pPr>
            <a:r>
              <a:t>- 因子負荷量 (Λ) が高く、かつ未習得のスキルを優先</a:t>
            </a:r>
          </a:p>
          <a:p>
            <a:pPr lvl="1">
              <a:spcAft>
                <a:spcPts val="1000"/>
              </a:spcAft>
              <a:defRPr sz="1800"/>
            </a:pPr>
            <a:r>
              <a:t>- 「あなたの基礎力向上には、このスキルが最も寄与します」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3.8 SEM: 利点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理論的妥当性:</a:t>
            </a:r>
          </a:p>
          <a:p>
            <a:pPr lvl="1">
              <a:spcAft>
                <a:spcPts val="1000"/>
              </a:spcAft>
              <a:defRPr sz="1800"/>
            </a:pPr>
            <a:r>
              <a:t>- 専門知識（ドメイン知識）をモデル構造に反映できる</a:t>
            </a:r>
          </a:p>
          <a:p>
            <a:pPr lvl="1">
              <a:spcAft>
                <a:spcPts val="1000"/>
              </a:spcAft>
              <a:defRPr sz="1800"/>
            </a:pPr>
            <a:r>
              <a:t>- 「なぜ」の構造が明確</a:t>
            </a:r>
          </a:p>
          <a:p>
            <a:pPr>
              <a:spcAft>
                <a:spcPts val="1000"/>
              </a:spcAft>
              <a:defRPr sz="1800"/>
            </a:pPr>
            <a:r>
              <a:t>潜在変数の扱い:</a:t>
            </a:r>
          </a:p>
          <a:p>
            <a:pPr lvl="1">
              <a:spcAft>
                <a:spcPts val="1000"/>
              </a:spcAft>
              <a:defRPr sz="1800"/>
            </a:pPr>
            <a:r>
              <a:t>- 直接測定できない「能力」や「概念」を扱える</a:t>
            </a:r>
          </a:p>
          <a:p>
            <a:pPr lvl="1">
              <a:spcAft>
                <a:spcPts val="1000"/>
              </a:spcAft>
              <a:defRPr sz="1800"/>
            </a:pPr>
            <a:r>
              <a:t>- 測定誤差を明示的にモデル化できるため、パラメータ推定のバイアスが小さい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3.9 SEM: 概念図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潜在変数（丸）と観測変数（四角）のパス図</a:t>
            </a:r>
          </a:p>
          <a:p>
            <a:pPr>
              <a:spcAft>
                <a:spcPts val="1000"/>
              </a:spcAft>
              <a:defRPr sz="1800"/>
            </a:pPr>
            <a:r>
              <a:t>矢印は因果（回帰）関係を表す</a:t>
            </a:r>
          </a:p>
          <a:p>
            <a:pPr>
              <a:spcAft>
                <a:spcPts val="1000"/>
              </a:spcAft>
              <a:defRPr sz="1800"/>
            </a:pPr>
            <a:r>
              <a:t>階層的な構造を持つことが多い</a:t>
            </a:r>
          </a:p>
        </p:txBody>
      </p:sp>
      <p:pic>
        <p:nvPicPr>
          <p:cNvPr id="4" name="Picture 3" descr="sem_concept_1763548205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3.10 SEM: 課題と限界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モデル特定化の困難さ:</a:t>
            </a:r>
          </a:p>
          <a:p>
            <a:pPr lvl="1">
              <a:spcAft>
                <a:spcPts val="1000"/>
              </a:spcAft>
              <a:defRPr sz="1800"/>
            </a:pPr>
            <a:r>
              <a:t>- 適切なモデル構造を事前に定義する必要がある</a:t>
            </a:r>
          </a:p>
          <a:p>
            <a:pPr lvl="1">
              <a:spcAft>
                <a:spcPts val="1000"/>
              </a:spcAft>
              <a:defRPr sz="1800"/>
            </a:pPr>
            <a:r>
              <a:t>- 探索的な利用には向かない（修正指数などを使うが限界あり）</a:t>
            </a:r>
          </a:p>
          <a:p>
            <a:pPr>
              <a:spcAft>
                <a:spcPts val="1000"/>
              </a:spcAft>
              <a:defRPr sz="1800"/>
            </a:pPr>
            <a:r>
              <a:t>計算コスト:</a:t>
            </a:r>
          </a:p>
          <a:p>
            <a:pPr lvl="1">
              <a:spcAft>
                <a:spcPts val="1000"/>
              </a:spcAft>
              <a:defRPr sz="1800"/>
            </a:pPr>
            <a:r>
              <a:t>- 変数が増えると計算が不安定になりやすい</a:t>
            </a:r>
          </a:p>
          <a:p>
            <a:pPr lvl="1">
              <a:spcAft>
                <a:spcPts val="1000"/>
              </a:spcAft>
              <a:defRPr sz="1800"/>
            </a:pPr>
            <a:r>
              <a:t>- 収束しない場合がある</a:t>
            </a:r>
          </a:p>
          <a:p>
            <a:pPr>
              <a:spcAft>
                <a:spcPts val="1000"/>
              </a:spcAft>
              <a:defRPr sz="1800"/>
            </a:pPr>
            <a:r>
              <a:t>分布の仮定:</a:t>
            </a:r>
          </a:p>
          <a:p>
            <a:pPr lvl="1">
              <a:spcAft>
                <a:spcPts val="1000"/>
              </a:spcAft>
              <a:defRPr sz="1800"/>
            </a:pPr>
            <a:r>
              <a:t>- 基本的に多変量正規分布を仮定するため、離散データ（有無）への適用には工夫が必要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LiNGAM (線形非ガウス非巡回モデル)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4.1 LiNGAM: 概要と目的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目的: 観測データのみから、変数間の因果構造（向き）を識別する</a:t>
            </a:r>
          </a:p>
          <a:p>
            <a:pPr>
              <a:spcAft>
                <a:spcPts val="1000"/>
              </a:spcAft>
              <a:defRPr sz="1800"/>
            </a:pPr>
            <a:r>
              <a:t>アプローチ: 因果探索 (Causal Discovery)</a:t>
            </a:r>
          </a:p>
          <a:p>
            <a:pPr>
              <a:spcAft>
                <a:spcPts val="1000"/>
              </a:spcAft>
              <a:defRPr sz="1800"/>
            </a:pPr>
            <a:r>
              <a:t>特徴: 従来の統計手法（相関）では不可能な「因果の方向」の特定が可能</a:t>
            </a:r>
          </a:p>
          <a:p>
            <a:pPr lvl="1">
              <a:spcAft>
                <a:spcPts val="1000"/>
              </a:spcAft>
              <a:defRPr sz="1800"/>
            </a:pPr>
            <a:r>
              <a:t>- 「相関関係」≠「因果関係」の壁を突破</a:t>
            </a:r>
          </a:p>
          <a:p>
            <a:pPr>
              <a:spcAft>
                <a:spcPts val="1000"/>
              </a:spcAft>
              <a:defRPr sz="1800"/>
            </a:pPr>
            <a:r>
              <a:t>応用: 経済分析、生物学（遺伝子ネットワーク）、マーケティング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4.2 LiNGAM: 識別性の問題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なぜ因果探索は難しいか？</a:t>
            </a:r>
          </a:p>
          <a:p>
            <a:pPr lvl="1">
              <a:spcAft>
                <a:spcPts val="1000"/>
              </a:spcAft>
              <a:defRPr sz="1800"/>
            </a:pPr>
            <a:r>
              <a:t>- ガウス分布（正規分布）の世界では、X→Y と Y→X の区別がつかない</a:t>
            </a:r>
          </a:p>
          <a:p>
            <a:pPr lvl="1">
              <a:spcAft>
                <a:spcPts val="1000"/>
              </a:spcAft>
              <a:defRPr sz="1800"/>
            </a:pPr>
            <a:r>
              <a:t>- どちらのモデルでも同じ共分散行列を生成できてしまう（モデルの等価性）</a:t>
            </a:r>
          </a:p>
          <a:p>
            <a:pPr>
              <a:spcAft>
                <a:spcPts val="1000"/>
              </a:spcAft>
              <a:defRPr sz="1800"/>
            </a:pPr>
            <a:r>
              <a:t>LiNGAMのブレイクスルー:</a:t>
            </a:r>
          </a:p>
          <a:p>
            <a:pPr lvl="1">
              <a:spcAft>
                <a:spcPts val="1000"/>
              </a:spcAft>
              <a:defRPr sz="1800"/>
            </a:pPr>
            <a:r>
              <a:t>- 「データが非ガウス分布であれば、因果の方向を一意に特定できる」ことを証明 (Shimizu et al., 2006)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4.3 LiNGAM: 仮定と数理モデル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3つの仮定:</a:t>
            </a:r>
          </a:p>
          <a:p>
            <a:pPr lvl="1">
              <a:spcAft>
                <a:spcPts val="1000"/>
              </a:spcAft>
              <a:defRPr sz="1800"/>
            </a:pPr>
            <a:r>
              <a:t>1. 線形性 (Linearity): x_i = Σ b_ij x_j + e_i</a:t>
            </a:r>
          </a:p>
          <a:p>
            <a:pPr lvl="1">
              <a:spcAft>
                <a:spcPts val="1000"/>
              </a:spcAft>
              <a:defRPr sz="1800"/>
            </a:pPr>
            <a:r>
              <a:t>2. 非ガウス性 (Non-Gaussianity): 誤差項 e_i は非正規分布に従う</a:t>
            </a:r>
          </a:p>
          <a:p>
            <a:pPr lvl="1">
              <a:spcAft>
                <a:spcPts val="1000"/>
              </a:spcAft>
              <a:defRPr sz="1800"/>
            </a:pPr>
            <a:r>
              <a:t>3. 非巡回性 (Acyclicity): 因果グラフはDAG (有向非巡回グラフ) である</a:t>
            </a:r>
          </a:p>
          <a:p>
            <a:pPr>
              <a:spcAft>
                <a:spcPts val="1000"/>
              </a:spcAft>
              <a:defRPr sz="1800"/>
            </a:pPr>
            <a:r>
              <a:t>行列表記:</a:t>
            </a:r>
          </a:p>
          <a:p>
            <a:pPr lvl="1">
              <a:spcAft>
                <a:spcPts val="1000"/>
              </a:spcAft>
              <a:defRPr sz="1800"/>
            </a:pPr>
            <a:r>
              <a:t>x = Bx + e</a:t>
            </a:r>
          </a:p>
          <a:p>
            <a:pPr lvl="1">
              <a:spcAft>
                <a:spcPts val="1000"/>
              </a:spcAft>
              <a:defRPr sz="1800"/>
            </a:pPr>
            <a:r>
              <a:t>x = (I - B)^-1 e = A e  (A: 混合行列)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4.4 LiNGAM: アルゴリズム (ICAベース)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基本手順:</a:t>
            </a:r>
          </a:p>
          <a:p>
            <a:pPr lvl="1">
              <a:spcAft>
                <a:spcPts val="1000"/>
              </a:spcAft>
              <a:defRPr sz="1800"/>
            </a:pPr>
            <a:r>
              <a:t>1. 独立成分分析 (ICA) を行い、混合行列 A を推定</a:t>
            </a:r>
          </a:p>
          <a:p>
            <a:pPr lvl="1">
              <a:spcAft>
                <a:spcPts val="1000"/>
              </a:spcAft>
              <a:defRPr sz="1800"/>
            </a:pPr>
            <a:r>
              <a:t>x = A s  (sは独立成分)</a:t>
            </a:r>
          </a:p>
          <a:p>
            <a:pPr lvl="1">
              <a:spcAft>
                <a:spcPts val="1000"/>
              </a:spcAft>
              <a:defRPr sz="1800"/>
            </a:pPr>
            <a:r>
              <a:t>2. 行列 A の行・列を並べ替えて、対角成分が非ゼロになるように正規化</a:t>
            </a:r>
          </a:p>
          <a:p>
            <a:pPr lvl="1">
              <a:spcAft>
                <a:spcPts val="1000"/>
              </a:spcAft>
              <a:defRPr sz="1800"/>
            </a:pPr>
            <a:r>
              <a:t>3. さらに並べ替えて、下三角行列に近づける</a:t>
            </a:r>
          </a:p>
          <a:p>
            <a:pPr lvl="1">
              <a:spcAft>
                <a:spcPts val="1000"/>
              </a:spcAft>
              <a:defRPr sz="1800"/>
            </a:pPr>
            <a:r>
              <a:t>(因果的順序の決定: 原因 → 結果)</a:t>
            </a:r>
          </a:p>
          <a:p>
            <a:pPr lvl="1">
              <a:spcAft>
                <a:spcPts val="1000"/>
              </a:spcAft>
              <a:defRPr sz="1800"/>
            </a:pPr>
            <a:r>
              <a:t>4. 行列 B を計算し、有意でない係数を剪定 (Pruning)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4.5 DirectLiNGAM: 改良アルゴリズム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ICAベースの課題: 初期値依存性、収束性</a:t>
            </a:r>
          </a:p>
          <a:p>
            <a:pPr>
              <a:spcAft>
                <a:spcPts val="1000"/>
              </a:spcAft>
              <a:defRPr sz="1800"/>
            </a:pPr>
            <a:r>
              <a:t>DirectLiNGAM (2011):</a:t>
            </a:r>
          </a:p>
          <a:p>
            <a:pPr lvl="1">
              <a:spcAft>
                <a:spcPts val="1000"/>
              </a:spcAft>
              <a:defRPr sz="1800"/>
            </a:pPr>
            <a:r>
              <a:t>- ICAを使わず、変数間の独立性を直接評価して因果順序を決定</a:t>
            </a:r>
          </a:p>
          <a:p>
            <a:pPr>
              <a:spcAft>
                <a:spcPts val="1000"/>
              </a:spcAft>
              <a:defRPr sz="1800"/>
            </a:pPr>
            <a:r>
              <a:t>手順:</a:t>
            </a:r>
          </a:p>
          <a:p>
            <a:pPr lvl="1">
              <a:spcAft>
                <a:spcPts val="1000"/>
              </a:spcAft>
              <a:defRPr sz="1800"/>
            </a:pPr>
            <a:r>
              <a:t>1. すべての変数に対して、他の変数との独立性を評価</a:t>
            </a:r>
          </a:p>
          <a:p>
            <a:pPr lvl="1">
              <a:spcAft>
                <a:spcPts val="1000"/>
              </a:spcAft>
              <a:defRPr sz="1800"/>
            </a:pPr>
            <a:r>
              <a:t>2. 最も「外生的な（原因となる）」変数を特定し、順序リストに追加</a:t>
            </a:r>
          </a:p>
          <a:p>
            <a:pPr lvl="1">
              <a:spcAft>
                <a:spcPts val="1000"/>
              </a:spcAft>
              <a:defRPr sz="1800"/>
            </a:pPr>
            <a:r>
              <a:t>3. その変数の影響（成分）を他の変数から除去（回帰残差）</a:t>
            </a:r>
          </a:p>
          <a:p>
            <a:pPr lvl="1">
              <a:spcAft>
                <a:spcPts val="1000"/>
              </a:spcAft>
              <a:defRPr sz="1800"/>
            </a:pPr>
            <a:r>
              <a:t>4. 残りの変数で 1-3 を繰り返す</a:t>
            </a:r>
          </a:p>
          <a:p>
            <a:pPr>
              <a:spcAft>
                <a:spcPts val="1000"/>
              </a:spcAft>
              <a:defRPr sz="1800"/>
            </a:pPr>
            <a:r>
              <a:t>特徴: 決定論的で必ず解が得られる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4.6 LiNGAM: 本システムでの実装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ライブラリ: lingam (Python package)</a:t>
            </a:r>
          </a:p>
          <a:p>
            <a:pPr>
              <a:spcAft>
                <a:spcPts val="1000"/>
              </a:spcAft>
              <a:defRPr sz="1800"/>
            </a:pPr>
            <a:r>
              <a:t>使用モデル: DirectLiNGAM</a:t>
            </a:r>
          </a:p>
          <a:p>
            <a:pPr>
              <a:spcAft>
                <a:spcPts val="1000"/>
              </a:spcAft>
              <a:defRPr sz="1800"/>
            </a:pPr>
            <a:r>
              <a:t>計算コスト対策:</a:t>
            </a:r>
          </a:p>
          <a:p>
            <a:pPr lvl="1">
              <a:spcAft>
                <a:spcPts val="1000"/>
              </a:spcAft>
              <a:defRPr sz="1800"/>
            </a:pPr>
            <a:r>
              <a:t>- 変数（スキル）が多すぎると計算量が爆発する (O(p^3) ~ O(p^4))</a:t>
            </a:r>
          </a:p>
          <a:p>
            <a:pPr lvl="1">
              <a:spcAft>
                <a:spcPts val="1000"/>
              </a:spcAft>
              <a:defRPr sz="1800"/>
            </a:pPr>
            <a:r>
              <a:t>- クラスタリングによる分割統治法を採用</a:t>
            </a:r>
          </a:p>
          <a:p>
            <a:pPr lvl="1">
              <a:spcAft>
                <a:spcPts val="1000"/>
              </a:spcAft>
              <a:defRPr sz="1800"/>
            </a:pPr>
            <a:r>
              <a:t>- 類似スキル群ごとにLiNGAMを適用し、全体構造を統合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4.7 LiNGAM: 推薦ロジック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因果効果 (Causal Effect) の算出:</a:t>
            </a:r>
          </a:p>
          <a:p>
            <a:pPr lvl="1">
              <a:spcAft>
                <a:spcPts val="1000"/>
              </a:spcAft>
              <a:defRPr sz="1800"/>
            </a:pPr>
            <a:r>
              <a:t>- Total Effect = 直接効果 + 間接効果</a:t>
            </a:r>
          </a:p>
          <a:p>
            <a:pPr lvl="1">
              <a:spcAft>
                <a:spcPts val="1000"/>
              </a:spcAft>
              <a:defRPr sz="1800"/>
            </a:pPr>
            <a:r>
              <a:t>- 行列 B から (I - B)^-1 を計算することで全効果を取得</a:t>
            </a:r>
          </a:p>
          <a:p>
            <a:pPr>
              <a:spcAft>
                <a:spcPts val="1000"/>
              </a:spcAft>
              <a:defRPr sz="1800"/>
            </a:pPr>
            <a:r>
              <a:t>スコアリング:</a:t>
            </a:r>
          </a:p>
          <a:p>
            <a:pPr lvl="1">
              <a:spcAft>
                <a:spcPts val="1000"/>
              </a:spcAft>
              <a:defRPr sz="1800"/>
            </a:pPr>
            <a:r>
              <a:t>1. Readiness Score: 既習得スキルが、ターゲットスキルの習得をどれだけ促進するか（原因→結果）</a:t>
            </a:r>
          </a:p>
          <a:p>
            <a:pPr lvl="1">
              <a:spcAft>
                <a:spcPts val="1000"/>
              </a:spcAft>
              <a:defRPr sz="1800"/>
            </a:pPr>
            <a:r>
              <a:t>2. Utility Score: ターゲットスキルが、将来のスキル習得にどれだけ役立つか（結果→原因）</a:t>
            </a:r>
          </a:p>
          <a:p>
            <a:pPr lvl="1">
              <a:spcAft>
                <a:spcPts val="1000"/>
              </a:spcAft>
              <a:defRPr sz="1800"/>
            </a:pPr>
            <a:r>
              <a:t>- これらを統合してランク付け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4.8 LiNGAM: 概念図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虫眼鏡で「真の矢印」を見つけるイメージ</a:t>
            </a:r>
          </a:p>
          <a:p>
            <a:pPr>
              <a:spcAft>
                <a:spcPts val="1000"/>
              </a:spcAft>
              <a:defRPr sz="1800"/>
            </a:pPr>
            <a:r>
              <a:t>相関関係（双方向）ではなく、因果関係（片方向）を特定</a:t>
            </a:r>
          </a:p>
          <a:p>
            <a:pPr>
              <a:spcAft>
                <a:spcPts val="1000"/>
              </a:spcAft>
              <a:defRPr sz="1800"/>
            </a:pPr>
            <a:r>
              <a:t>データの分布形状（非ガウス性）が鍵</a:t>
            </a:r>
          </a:p>
        </p:txBody>
      </p:sp>
      <p:pic>
        <p:nvPicPr>
          <p:cNvPr id="4" name="Picture 3" descr="lingam_concept_17635482145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4.9 LiNGAM: 利点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因果の特定:</a:t>
            </a:r>
          </a:p>
          <a:p>
            <a:pPr lvl="1">
              <a:spcAft>
                <a:spcPts val="1000"/>
              </a:spcAft>
              <a:defRPr sz="1800"/>
            </a:pPr>
            <a:r>
              <a:t>- 「AをやればBができるようになる」という介入効果を予測できる</a:t>
            </a:r>
          </a:p>
          <a:p>
            <a:pPr lvl="1">
              <a:spcAft>
                <a:spcPts val="1000"/>
              </a:spcAft>
              <a:defRPr sz="1800"/>
            </a:pPr>
            <a:r>
              <a:t>- 推薦の説得力が高い（根拠が明確）</a:t>
            </a:r>
          </a:p>
          <a:p>
            <a:pPr>
              <a:spcAft>
                <a:spcPts val="1000"/>
              </a:spcAft>
              <a:defRPr sz="1800"/>
            </a:pPr>
            <a:r>
              <a:t>モデルフリー:</a:t>
            </a:r>
          </a:p>
          <a:p>
            <a:pPr lvl="1">
              <a:spcAft>
                <a:spcPts val="1000"/>
              </a:spcAft>
              <a:defRPr sz="1800"/>
            </a:pPr>
            <a:r>
              <a:t>- SEMのように事前に構造を指定する必要がない</a:t>
            </a:r>
          </a:p>
          <a:p>
            <a:pPr lvl="1">
              <a:spcAft>
                <a:spcPts val="1000"/>
              </a:spcAft>
              <a:defRPr sz="1800"/>
            </a:pPr>
            <a:r>
              <a:t>- データから構造自体を発見できる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4.10 LiNGAM: 課題と限界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仮定の制約:</a:t>
            </a:r>
          </a:p>
          <a:p>
            <a:pPr lvl="1">
              <a:spcAft>
                <a:spcPts val="1000"/>
              </a:spcAft>
              <a:defRPr sz="1800"/>
            </a:pPr>
            <a:r>
              <a:t>- 非ガウス性が必要（データが正規分布に近いと機能しない）</a:t>
            </a:r>
          </a:p>
          <a:p>
            <a:pPr lvl="1">
              <a:spcAft>
                <a:spcPts val="1000"/>
              </a:spcAft>
              <a:defRPr sz="1800"/>
            </a:pPr>
            <a:r>
              <a:t>- 非巡回（フィードバックループを持てない）</a:t>
            </a:r>
          </a:p>
          <a:p>
            <a:pPr lvl="1">
              <a:spcAft>
                <a:spcPts val="1000"/>
              </a:spcAft>
              <a:defRPr sz="1800"/>
            </a:pPr>
            <a:r>
              <a:t>- 未観測共通原因（交絡因子）の影響を受けやすい</a:t>
            </a:r>
          </a:p>
          <a:p>
            <a:pPr>
              <a:spcAft>
                <a:spcPts val="1000"/>
              </a:spcAft>
              <a:defRPr sz="1800"/>
            </a:pPr>
            <a:r>
              <a:t>データ量と計算量:</a:t>
            </a:r>
          </a:p>
          <a:p>
            <a:pPr lvl="1">
              <a:spcAft>
                <a:spcPts val="1000"/>
              </a:spcAft>
              <a:defRPr sz="1800"/>
            </a:pPr>
            <a:r>
              <a:t>- 信頼性の高い推定には多くのサンプルが必要</a:t>
            </a:r>
          </a:p>
          <a:p>
            <a:pPr lvl="1">
              <a:spcAft>
                <a:spcPts val="1000"/>
              </a:spcAft>
              <a:defRPr sz="1800"/>
            </a:pPr>
            <a:r>
              <a:t>- 変数が多いと計算時間が長い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アルゴリズムの比較と使い分け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NMF (協調フィルタリング):</a:t>
            </a:r>
          </a:p>
          <a:p>
            <a:pPr lvl="1">
              <a:spcAft>
                <a:spcPts val="1000"/>
              </a:spcAft>
              <a:defRPr sz="1800"/>
            </a:pPr>
            <a:r>
              <a:t>- 探索的発見重視。データがスパースでも機能しやすい。</a:t>
            </a:r>
          </a:p>
          <a:p>
            <a:pPr>
              <a:spcAft>
                <a:spcPts val="1000"/>
              </a:spcAft>
              <a:defRPr sz="1800"/>
            </a:pPr>
            <a:r>
              <a:t>Graph (遷移グラフ):</a:t>
            </a:r>
          </a:p>
          <a:p>
            <a:pPr lvl="1">
              <a:spcAft>
                <a:spcPts val="1000"/>
              </a:spcAft>
              <a:defRPr sz="1800"/>
            </a:pPr>
            <a:r>
              <a:t>- 実績重視。学習パスの順序性を自然に表現。</a:t>
            </a:r>
          </a:p>
          <a:p>
            <a:pPr>
              <a:spcAft>
                <a:spcPts val="1000"/>
              </a:spcAft>
              <a:defRPr sz="1800"/>
            </a:pPr>
            <a:r>
              <a:t>SEM (構造方程式):</a:t>
            </a:r>
          </a:p>
          <a:p>
            <a:pPr lvl="1">
              <a:spcAft>
                <a:spcPts val="1000"/>
              </a:spcAft>
              <a:defRPr sz="1800"/>
            </a:pPr>
            <a:r>
              <a:t>- 理論重視。ドメイン知識を組み込み、仮説を検証する。</a:t>
            </a:r>
          </a:p>
          <a:p>
            <a:pPr>
              <a:spcAft>
                <a:spcPts val="1000"/>
              </a:spcAft>
              <a:defRPr sz="1800"/>
            </a:pPr>
            <a:r>
              <a:t>LiNGAM (因果探索):</a:t>
            </a:r>
          </a:p>
          <a:p>
            <a:pPr lvl="1">
              <a:spcAft>
                <a:spcPts val="1000"/>
              </a:spcAft>
              <a:defRPr sz="1800"/>
            </a:pPr>
            <a:r>
              <a:t>- 因果重視。データから真の前提条件構造を発見する。</a:t>
            </a:r>
          </a:p>
          <a:p>
            <a:pPr>
              <a:spcAft>
                <a:spcPts val="1000"/>
              </a:spcAft>
              <a:defRPr sz="1800"/>
            </a:pPr>
            <a:r>
              <a:t>結論: 目的に応じてこれらをハイブリッドに組み合わせることが有効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